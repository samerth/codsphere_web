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dsphere.com/contact" TargetMode="External"/><Relationship Id="rId3" Type="http://schemas.openxmlformats.org/officeDocument/2006/relationships/hyperlink" Target="https://www.codsphere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dsphere.com/projec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odsphere.com/contact" TargetMode="External"/><Relationship Id="rId3" Type="http://schemas.openxmlformats.org/officeDocument/2006/relationships/hyperlink" Target="tel:+1604906269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CODSPHERE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Calibri"/>
              </a:rPr>
              <a:t>Sell custom work online.
Track every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472"/>
                </a:solidFill>
                <a:latin typeface="Calibri"/>
              </a:rPr>
              <a:t>Commerce and order operations for businesses where every order is customized for the customer.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40080" y="320040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Show us your order flow →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114800" y="320040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10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10B66"/>
                </a:solidFill>
                <a:latin typeface="Calibri"/>
              </a:rPr>
              <a:t>www.codsphere.com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472"/>
                </a:solidFill>
                <a:latin typeface="Calibri"/>
              </a:rPr>
              <a:t>Vancouver · Canada · (604) 906-2693 · info@codsphere.ca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72000"/>
            <a:ext cx="10698480" cy="12344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What you’ll leave with today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A clear view of whether CodSphere fits — and, if it does, the smallest next step (diagnostic, storefront, or a clean no).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PURPOSE OF THIS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0A0A"/>
                </a:solidFill>
                <a:latin typeface="Calibri"/>
              </a:rPr>
              <a:t>By the end of this conversation, you’ll know three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01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A0A0A"/>
                </a:solidFill>
                <a:latin typeface="Calibri"/>
              </a:rPr>
              <a:t>Fit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Whether your way of taking and fulfilling custom orders matches what CodSphere is built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4688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02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A0A0A"/>
                </a:solidFill>
                <a:latin typeface="Calibri"/>
              </a:rPr>
              <a:t>Opportunity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Where incomplete intake or lost status is costing time — on one real order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28600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46888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03</a:t>
            </a: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0A0A0A"/>
                </a:solidFill>
                <a:latin typeface="Calibri"/>
              </a:rPr>
              <a:t>Next step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The smallest useful engagement — or an honest “not for you” if we shouldn’t work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472"/>
                </a:solidFill>
                <a:latin typeface="Calibri"/>
              </a:rPr>
              <a:t>This is not a feature dump. It’s a working session on one of your orders.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A0A0A"/>
                </a:solidFill>
                <a:latin typeface="Calibri"/>
              </a:rPr>
              <a:t>When every order is different,
generic tools break.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A0A0A"/>
                </a:solidFill>
                <a:latin typeface="Calibri"/>
              </a:rPr>
              <a:t>Hard to buy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Customers need guidance on options, specs, files, approvals, and deadlines. A standard cart assumes a fixed product — so requests arrive incomplete.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0A0A0A"/>
                </a:solidFill>
                <a:latin typeface="Calibri"/>
              </a:rPr>
              <a:t>Hard to run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Jobs bounce across email, spreadsheets, CRM, and production tools. Teams often learn something stalled when the customer asks where their order 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698480" cy="9601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0A0A0A"/>
                </a:solidFill>
                <a:latin typeface="Calibri"/>
              </a:rPr>
              <a:t>The gap: selling and fulfilling custom work live in different places — so information gets lost between the first conversation and the finished job.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WHO WE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A0A0A"/>
                </a:solidFill>
                <a:latin typeface="Calibri"/>
              </a:rPr>
              <a:t>Any business where most orders are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6472"/>
                </a:solidFill>
                <a:latin typeface="Calibri"/>
              </a:rPr>
              <a:t>If the work is configured per customer — not a fixed shelf item — you’re in the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029200" cy="3200400"/>
          </a:xfrm>
          <a:prstGeom prst="roundRect">
            <a:avLst>
              <a:gd name="adj" fmla="val 8000"/>
            </a:avLst>
          </a:prstGeom>
          <a:solidFill>
            <a:srgbClr val="010B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 strong fit when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Most orders are unique to the customer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Quotes, specs, or approvals matter before work starts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Several people or systems touch each job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Status lives in more than one 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46888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65176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0A0A0A"/>
                </a:solidFill>
                <a:latin typeface="Calibri"/>
              </a:rPr>
              <a:t>Examples (not a limit list)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Kitchens, cabinets, and custom millwork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Home renovations and custom builders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Pharmacy / specialty fulfillment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Print, sign, and graphics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Promo, apparel, and decoration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• Custom fabrication and made-to-order commerce</a:t>
            </a:r>
          </a:p>
          <a:p>
            <a:pPr>
              <a:spcAft>
                <a:spcPts val="500"/>
              </a:spcAft>
            </a:pPr>
            <a:r>
              <a:rPr sz="4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Same pattern: every order is different.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WHAT WE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A0A0A"/>
                </a:solidFill>
                <a:latin typeface="Calibri"/>
              </a:rPr>
              <a:t>Start where you need. Expand as you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01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A0A0A"/>
                </a:solidFill>
                <a:latin typeface="Calibri"/>
              </a:rPr>
              <a:t>Digital Storefront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Make custom work easier to discover, quote, and order — with the right files and specs captured up front.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4028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23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02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A0A0A"/>
                </a:solidFill>
                <a:latin typeface="Calibri"/>
              </a:rPr>
              <a:t>Order Flow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Give every job one visible path — design, approval, production, delivery — and see what stalls.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4028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4231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664A7"/>
                </a:solidFill>
                <a:latin typeface="Calibri"/>
              </a:rPr>
              <a:t>03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0A0A0A"/>
                </a:solidFill>
                <a:latin typeface="Calibri"/>
              </a:rPr>
              <a:t>Custom Extensions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Add the estimator, portal, supplier link, or fulfillment screen your stack is missing — on the same order 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472"/>
                </a:solidFill>
                <a:latin typeface="Calibri"/>
              </a:rPr>
              <a:t>Not a standard cart. Not a forced full MIS or ERP replacement.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HOW WE WORK ·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A0A0A"/>
                </a:solidFill>
                <a:latin typeface="Calibri"/>
              </a:rPr>
              <a:t>The smallest useful step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1. Diagnose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Map one real order end to end.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CAD $1,500–$2,500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1–2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2. Digital Storefront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Intake and selling surface for custom work.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CAD $10k–$25k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+ $300–$750/mo · 4–8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3. Order Flow Pilot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Timeline and status for teams that touch every job.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CAD $7.5k–$15k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+ $1k–$2k/mo · 3–6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21488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228600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4. Custom Extensions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Only after discovery — scoped to your workflow.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CAD $20k+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Calibri"/>
              </a:rPr>
              <a:t>Timeline varies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2"/>
                </a:solidFill>
                <a:latin typeface="Calibri"/>
              </a:rPr>
              <a:t>Fixed quote after discovery. GST extra if applicable.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SELECTED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A0A0A"/>
                </a:solidFill>
                <a:latin typeface="Calibri"/>
              </a:rPr>
              <a:t>Systems built around real operating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664A7"/>
                </a:solidFill>
                <a:latin typeface="Calibri"/>
              </a:rPr>
              <a:t>UAT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Great West Graphics / Proof Industries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Digital storefront and order-flow integration for custom print and graphics work — quote through production visibility.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Outcome measurement in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94560"/>
            <a:ext cx="5212080" cy="30175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664A7"/>
                </a:solidFill>
                <a:latin typeface="Calibri"/>
              </a:rPr>
              <a:t>LIVE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0A0A0A"/>
                </a:solidFill>
                <a:latin typeface="Calibri"/>
              </a:rPr>
              <a:t>Voltvera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Commerce and operations workspace for multi-party order coordination — storefront through fulfillment and settlement.</a:t>
            </a:r>
          </a:p>
          <a:p>
            <a:pPr>
              <a:spcAft>
                <a:spcPts val="500"/>
              </a:spcAft>
            </a:pPr>
            <a:r>
              <a:rPr sz="600" b="0">
                <a:solidFill>
                  <a:srgbClr val="5A6472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Outcome measurement in progress.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640080" y="548640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10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10B66"/>
                </a:solidFill>
                <a:latin typeface="Calibri"/>
              </a:rPr>
              <a:t>See projects on the site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3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6248095" cy="73152"/>
          </a:xfrm>
          <a:prstGeom prst="rect">
            <a:avLst/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64A7"/>
                </a:solidFill>
                <a:latin typeface="Calibri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A0A0A"/>
                </a:solidFill>
                <a:latin typeface="Calibri"/>
              </a:rPr>
              <a:t>Show us one order that should
have gone better.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5A6472"/>
                </a:solidFill>
                <a:latin typeface="Calibri"/>
              </a:rPr>
              <a:t>Book 30 minutes. We’ll map how work enters, where it handoffs, and where visibility breaks. Expected outcome: fit + next step (or a clean no).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640080" y="3337560"/>
            <a:ext cx="3931920" cy="502920"/>
          </a:xfrm>
          <a:prstGeom prst="roundRect">
            <a:avLst>
              <a:gd name="adj" fmla="val 50000"/>
            </a:avLst>
          </a:prstGeom>
          <a:solidFill>
            <a:srgbClr val="010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Book on the website →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754880" y="333756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10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10B66"/>
                </a:solidFill>
                <a:latin typeface="Calibri"/>
              </a:rPr>
              <a:t>Call (604) 906-2693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06240"/>
            <a:ext cx="10698480" cy="15544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3891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Contact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www.codsphere.com/contact   ·   info@codsphere.ca   ·   (604) 906-2693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Office: Vancouver, BC  ·  Mon–Fri · 09:00–21:00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Download this deck (once live): www.codsphere.com — Resources / Company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472"/>
                </a:solidFill>
                <a:latin typeface="Calibri"/>
              </a:rPr>
              <a:t>CodSphere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472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